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822960"/>
            <a:ext cx="2011680" cy="2011680"/>
          </a:xfrm>
          <a:prstGeom prst="ellipse">
            <a:avLst/>
          </a:prstGeom>
          <a:solidFill>
            <a:srgbClr val="2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84080" y="2286000"/>
            <a:ext cx="1463040" cy="1463040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138160" y="2926080"/>
            <a:ext cx="1005840" cy="1005840"/>
          </a:xfrm>
          <a:prstGeom prst="ellipse">
            <a:avLst/>
          </a:prstGeom>
          <a:solidFill>
            <a:srgbClr val="ED9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4297680"/>
            <a:ext cx="1645920" cy="1645920"/>
          </a:xfrm>
          <a:prstGeom prst="ellipse">
            <a:avLst/>
          </a:prstGeom>
          <a:solidFill>
            <a:srgbClr val="26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365760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600" b="1" i="0">
                <a:solidFill>
                  <a:srgbClr val="149B91"/>
                </a:solidFill>
                <a:latin typeface="Aptos"/>
              </a:rPr>
              <a:t>PRDA-01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6949440" cy="1417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PROFIT ANALYSIS
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7132320" cy="5943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600" b="0" i="0">
                <a:solidFill>
                  <a:srgbClr val="DCE4EF"/>
                </a:solidFill>
                <a:latin typeface="Aptos"/>
              </a:rPr>
              <a:t>Regression Analysis  •  Power BI Visualization  •  Business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800600"/>
            <a:ext cx="4297680" cy="713232"/>
          </a:xfrm>
          <a:prstGeom prst="roundRect">
            <a:avLst/>
          </a:prstGeom>
          <a:solidFill>
            <a:srgbClr val="233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5010912"/>
            <a:ext cx="3840480" cy="304699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Aptos"/>
              </a:rPr>
              <a:t>Prepared by: </a:t>
            </a:r>
            <a:r>
              <a:rPr lang="en-IN" sz="1500" b="1" dirty="0">
                <a:solidFill>
                  <a:srgbClr val="FFFFFF"/>
                </a:solidFill>
                <a:latin typeface="Aptos"/>
              </a:rPr>
              <a:t>Prince Rajwar</a:t>
            </a:r>
            <a:endParaRPr sz="15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5897880"/>
            <a:ext cx="411480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0" i="0">
                <a:solidFill>
                  <a:srgbClr val="DCE4EF"/>
                </a:solidFill>
                <a:latin typeface="Aptos"/>
              </a:rPr>
              <a:t>Dataset: 50 records | 5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600" b="1" i="0">
                <a:solidFill>
                  <a:srgbClr val="162542"/>
                </a:solidFill>
                <a:latin typeface="Aptos"/>
              </a:rPr>
              <a:t>01 | Problem Understanding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Aptos"/>
              </a:rPr>
              <a:t>Business objective and analytical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/>
            <a:r>
              <a:rPr sz="1000" b="1" i="0">
                <a:solidFill>
                  <a:srgbClr val="5F6B7A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7432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700" b="1" i="0">
                <a:solidFill>
                  <a:srgbClr val="2E69B4"/>
                </a:solidFill>
                <a:latin typeface="Aptos"/>
              </a:rPr>
              <a:t>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1097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100" b="1" i="0">
                <a:solidFill>
                  <a:srgbClr val="162542"/>
                </a:solidFill>
                <a:latin typeface="Aptos"/>
              </a:rPr>
              <a:t>Understand how spending patterns and state-level differences relate to startup profitability.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5120640" cy="1143000"/>
          </a:xfrm>
          <a:prstGeom prst="roundRect">
            <a:avLst/>
          </a:prstGeom>
          <a:solidFill>
            <a:srgbClr val="DC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840480"/>
            <a:ext cx="1828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100" b="1" i="0">
                <a:solidFill>
                  <a:srgbClr val="2E69B4"/>
                </a:solidFill>
                <a:latin typeface="Aptos"/>
              </a:rPr>
              <a:t>KEY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457200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Which spending factors are most associated with Profit?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27432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700" b="1" i="0">
                <a:solidFill>
                  <a:srgbClr val="2E69B4"/>
                </a:solidFill>
                <a:latin typeface="Aptos"/>
              </a:rPr>
              <a:t>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029200" cy="3291840"/>
          </a:xfrm>
          <a:prstGeom prst="rect">
            <a:avLst/>
          </a:prstGeom>
          <a:noFill/>
        </p:spPr>
        <p:txBody>
          <a:bodyPr wrap="square" lIns="109728" tIns="54864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Analyze Profit against R&amp;D, Administration and Marketing spending.</a:t>
            </a:r>
          </a:p>
          <a:p>
            <a:pPr>
              <a:spcAft>
                <a:spcPts val="9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Compare average Profit across Florida, New York and California.</a:t>
            </a:r>
          </a:p>
          <a:p>
            <a:pPr>
              <a:spcAft>
                <a:spcPts val="9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Build a regression model to estimate Profit for new spending inputs.</a:t>
            </a:r>
          </a:p>
          <a:p>
            <a:pPr>
              <a:spcAft>
                <a:spcPts val="9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Create a Power BI dashboard and recommend evidence-based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600" b="1" i="0">
                <a:solidFill>
                  <a:srgbClr val="162542"/>
                </a:solidFill>
                <a:latin typeface="Aptos"/>
              </a:rPr>
              <a:t>02 | Dataset &amp;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Aptos"/>
              </a:rPr>
              <a:t>From raw data to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/>
            <a:r>
              <a:rPr sz="1000" b="1" i="0">
                <a:solidFill>
                  <a:srgbClr val="5F6B7A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603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09928"/>
            <a:ext cx="22860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000" b="1" i="0">
                <a:solidFill>
                  <a:srgbClr val="5F6B7A"/>
                </a:solidFill>
                <a:latin typeface="Aptos"/>
              </a:rP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93392"/>
            <a:ext cx="228600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200" b="1" i="0">
                <a:solidFill>
                  <a:srgbClr val="162542"/>
                </a:solidFill>
                <a:latin typeface="Aptos"/>
              </a:rP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42032"/>
            <a:ext cx="2286000" cy="210312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900" b="0" i="0">
                <a:solidFill>
                  <a:srgbClr val="5F6B7A"/>
                </a:solidFill>
                <a:latin typeface="Aptos"/>
              </a:rPr>
              <a:t>Rows in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5603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600200"/>
            <a:ext cx="73152" cy="1234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709928"/>
            <a:ext cx="22860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000" b="1" i="0">
                <a:solidFill>
                  <a:srgbClr val="5F6B7A"/>
                </a:solidFill>
                <a:latin typeface="Aptos"/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993392"/>
            <a:ext cx="228600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200" b="1" i="0">
                <a:solidFill>
                  <a:srgbClr val="162542"/>
                </a:solidFill>
                <a:latin typeface="Apto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542032"/>
            <a:ext cx="2286000" cy="210312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900" b="0" i="0">
                <a:solidFill>
                  <a:srgbClr val="5F6B7A"/>
                </a:solidFill>
                <a:latin typeface="Aptos"/>
              </a:rPr>
              <a:t>Columns analyzed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00200"/>
            <a:ext cx="25603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00200"/>
            <a:ext cx="73152" cy="1234440"/>
          </a:xfrm>
          <a:prstGeom prst="rect">
            <a:avLst/>
          </a:prstGeom>
          <a:solidFill>
            <a:srgbClr val="268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1709928"/>
            <a:ext cx="22860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000" b="1" i="0">
                <a:solidFill>
                  <a:srgbClr val="5F6B7A"/>
                </a:solidFill>
                <a:latin typeface="Aptos"/>
              </a:rPr>
              <a:t>MISSING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1993392"/>
            <a:ext cx="228600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200" b="1" i="0">
                <a:solidFill>
                  <a:srgbClr val="162542"/>
                </a:solidFill>
                <a:latin typeface="Apto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542032"/>
            <a:ext cx="2286000" cy="210312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900" b="0" i="0">
                <a:solidFill>
                  <a:srgbClr val="5F6B7A"/>
                </a:solidFill>
                <a:latin typeface="Aptos"/>
              </a:rPr>
              <a:t>As checked in 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600200"/>
            <a:ext cx="25603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1120" y="1600200"/>
            <a:ext cx="73152" cy="1234440"/>
          </a:xfrm>
          <a:prstGeom prst="rect">
            <a:avLst/>
          </a:prstGeom>
          <a:solidFill>
            <a:srgbClr val="ED9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25712" y="1709928"/>
            <a:ext cx="22860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000" b="1" i="0">
                <a:solidFill>
                  <a:srgbClr val="5F6B7A"/>
                </a:solidFill>
                <a:latin typeface="Aptos"/>
              </a:rPr>
              <a:t>STATES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1993392"/>
            <a:ext cx="228600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200" b="1" i="0">
                <a:solidFill>
                  <a:srgbClr val="162542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542032"/>
            <a:ext cx="2286000" cy="210312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900" b="0" i="0">
                <a:solidFill>
                  <a:srgbClr val="5F6B7A"/>
                </a:solidFill>
                <a:latin typeface="Aptos"/>
              </a:rPr>
              <a:t>Florida, New York, California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246120"/>
            <a:ext cx="274320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700" b="1" i="0">
                <a:solidFill>
                  <a:srgbClr val="2E69B4"/>
                </a:solidFill>
                <a:latin typeface="Aptos"/>
              </a:rPr>
              <a:t>Features included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611880"/>
            <a:ext cx="2926080" cy="2103120"/>
          </a:xfrm>
          <a:prstGeom prst="rect">
            <a:avLst/>
          </a:prstGeom>
          <a:noFill/>
        </p:spPr>
        <p:txBody>
          <a:bodyPr wrap="square" lIns="109728" tIns="54864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RD_Spend</a:t>
            </a:r>
          </a:p>
          <a:p>
            <a:pPr>
              <a:spcAft>
                <a:spcPts val="9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Administration</a:t>
            </a:r>
          </a:p>
          <a:p>
            <a:pPr>
              <a:spcAft>
                <a:spcPts val="9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Marketing_Spend</a:t>
            </a:r>
          </a:p>
          <a:p>
            <a:pPr>
              <a:spcAft>
                <a:spcPts val="9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State</a:t>
            </a:r>
          </a:p>
          <a:p>
            <a:pPr>
              <a:spcAft>
                <a:spcPts val="9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246120"/>
            <a:ext cx="182880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700" b="1" i="0">
                <a:solidFill>
                  <a:srgbClr val="2E69B4"/>
                </a:solidFill>
                <a:latin typeface="Aptos"/>
              </a:rPr>
              <a:t>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3794760"/>
            <a:ext cx="14173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87952" y="3977639"/>
            <a:ext cx="128016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300" b="1" i="0">
                <a:solidFill>
                  <a:srgbClr val="162542"/>
                </a:solidFill>
                <a:latin typeface="Aptos"/>
              </a:rPr>
              <a:t>MySQL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7952" y="4315968"/>
            <a:ext cx="128016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000" b="0" i="0">
                <a:solidFill>
                  <a:srgbClr val="5F6B7A"/>
                </a:solidFill>
                <a:latin typeface="Aptos"/>
              </a:rPr>
              <a:t>Explore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9552" y="4096512"/>
            <a:ext cx="32004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800" b="1" i="0">
                <a:solidFill>
                  <a:srgbClr val="149B91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3794760"/>
            <a:ext cx="14173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16752" y="3977639"/>
            <a:ext cx="128016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300" b="1" i="0">
                <a:solidFill>
                  <a:srgbClr val="162542"/>
                </a:solidFill>
                <a:latin typeface="Aptos"/>
              </a:rPr>
              <a:t>Excel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6752" y="4315968"/>
            <a:ext cx="128016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000" b="0" i="0">
                <a:solidFill>
                  <a:srgbClr val="5F6B7A"/>
                </a:solidFill>
                <a:latin typeface="Aptos"/>
              </a:rPr>
              <a:t>Regression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8352" y="4096512"/>
            <a:ext cx="32004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800" b="1" i="0">
                <a:solidFill>
                  <a:srgbClr val="149B91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3794760"/>
            <a:ext cx="14173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45552" y="3977639"/>
            <a:ext cx="128016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300" b="1" i="0">
                <a:solidFill>
                  <a:srgbClr val="162542"/>
                </a:solidFill>
                <a:latin typeface="Aptos"/>
              </a:rPr>
              <a:t>Power BI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4315968"/>
            <a:ext cx="128016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000" b="0" i="0">
                <a:solidFill>
                  <a:srgbClr val="5F6B7A"/>
                </a:solidFill>
                <a:latin typeface="Aptos"/>
              </a:rPr>
              <a:t>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7152" y="4096512"/>
            <a:ext cx="32004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800" b="1" i="0">
                <a:solidFill>
                  <a:srgbClr val="149B91"/>
                </a:solidFill>
                <a:latin typeface="Aptos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3794760"/>
            <a:ext cx="14173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74352" y="3977639"/>
            <a:ext cx="128016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300" b="1" i="0">
                <a:solidFill>
                  <a:srgbClr val="162542"/>
                </a:solidFill>
                <a:latin typeface="Aptos"/>
              </a:rPr>
              <a:t>Report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4352" y="4315968"/>
            <a:ext cx="128016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000" b="0" i="0">
                <a:solidFill>
                  <a:srgbClr val="5F6B7A"/>
                </a:solidFill>
                <a:latin typeface="Aptos"/>
              </a:rPr>
              <a:t>Insights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5166360"/>
            <a:ext cx="694944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Aptos"/>
              </a:rPr>
              <a:t>Data types and missing values were checked before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600" b="1" i="0">
                <a:solidFill>
                  <a:srgbClr val="162542"/>
                </a:solidFill>
                <a:latin typeface="Aptos"/>
              </a:rPr>
              <a:t>03 | State-wise Profit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Aptos"/>
              </a:rPr>
              <a:t>Average Profit from SQL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/>
            <a:r>
              <a:rPr sz="1000" b="1" i="0">
                <a:solidFill>
                  <a:srgbClr val="5F6B7A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371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600" b="1" i="0">
                <a:solidFill>
                  <a:srgbClr val="162542"/>
                </a:solidFill>
                <a:latin typeface="Aptos"/>
              </a:rPr>
              <a:t>Florida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801368"/>
            <a:ext cx="6675120" cy="3657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331720" y="1801368"/>
            <a:ext cx="6675120" cy="365760"/>
          </a:xfrm>
          <a:prstGeom prst="round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0" y="1773936"/>
            <a:ext cx="192024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/>
            <a:r>
              <a:rPr sz="1700" b="1" i="0">
                <a:solidFill>
                  <a:srgbClr val="162542"/>
                </a:solidFill>
                <a:latin typeface="Aptos"/>
              </a:rPr>
              <a:t>118,774.02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1371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600" b="1" i="0">
                <a:solidFill>
                  <a:srgbClr val="162542"/>
                </a:solidFill>
                <a:latin typeface="Aptos"/>
              </a:rPr>
              <a:t>New York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2898648"/>
            <a:ext cx="6675120" cy="3657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331720" y="2898648"/>
            <a:ext cx="6393131" cy="365760"/>
          </a:xfrm>
          <a:prstGeom prst="roundRect">
            <a:avLst/>
          </a:prstGeom>
          <a:solidFill>
            <a:srgbClr val="2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0" y="2871216"/>
            <a:ext cx="192024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/>
            <a:r>
              <a:rPr sz="1700" b="1" i="0">
                <a:solidFill>
                  <a:srgbClr val="162542"/>
                </a:solidFill>
                <a:latin typeface="Aptos"/>
              </a:rPr>
              <a:t>113,756.45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1371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600" b="1" i="0">
                <a:solidFill>
                  <a:srgbClr val="162542"/>
                </a:solidFill>
                <a:latin typeface="Aptos"/>
              </a:rPr>
              <a:t>California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3995927"/>
            <a:ext cx="6675120" cy="3657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31720" y="3995927"/>
            <a:ext cx="5839488" cy="365760"/>
          </a:xfrm>
          <a:prstGeom prst="roundRect">
            <a:avLst/>
          </a:prstGeom>
          <a:solidFill>
            <a:srgbClr val="ED9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3968496"/>
            <a:ext cx="192024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/>
            <a:r>
              <a:rPr sz="1700" b="1" i="0">
                <a:solidFill>
                  <a:srgbClr val="162542"/>
                </a:solidFill>
                <a:latin typeface="Aptos"/>
              </a:rPr>
              <a:t>103,905.18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49240"/>
            <a:ext cx="10424160" cy="640080"/>
          </a:xfrm>
          <a:prstGeom prst="roundRect">
            <a:avLst/>
          </a:prstGeom>
          <a:solidFill>
            <a:srgbClr val="DC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5522976"/>
            <a:ext cx="996696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400" b="1" i="0">
                <a:solidFill>
                  <a:srgbClr val="162542"/>
                </a:solidFill>
                <a:latin typeface="Aptos"/>
              </a:rPr>
              <a:t>Insight: Florida has the highest average Profit; California has the lowest among the three states.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600" b="1" i="0">
                <a:solidFill>
                  <a:srgbClr val="162542"/>
                </a:solidFill>
                <a:latin typeface="Aptos"/>
              </a:rPr>
              <a:t>04 | Regression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Aptos"/>
              </a:rPr>
              <a:t>Profit is the target variable in multiple linear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/>
            <a:r>
              <a:rPr sz="1000" b="1" i="0">
                <a:solidFill>
                  <a:srgbClr val="5F6B7A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2971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73152" cy="1234440"/>
          </a:xfrm>
          <a:prstGeom prst="rect">
            <a:avLst/>
          </a:prstGeom>
          <a:solidFill>
            <a:srgbClr val="2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618488"/>
            <a:ext cx="269748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000" b="1" i="0">
                <a:solidFill>
                  <a:srgbClr val="5F6B7A"/>
                </a:solidFill>
                <a:latin typeface="Aptos"/>
              </a:rPr>
              <a:t>R-SQUARED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901952"/>
            <a:ext cx="26974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200" b="1" i="0">
                <a:solidFill>
                  <a:srgbClr val="162542"/>
                </a:solidFill>
                <a:latin typeface="Aptos"/>
              </a:rPr>
              <a:t>95.07%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50592"/>
            <a:ext cx="2697480" cy="210312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900" b="0" i="0">
                <a:solidFill>
                  <a:srgbClr val="5F6B7A"/>
                </a:solidFill>
                <a:latin typeface="Aptos"/>
              </a:rPr>
              <a:t>Variation explained in this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1508760"/>
            <a:ext cx="32918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31920" y="1508760"/>
            <a:ext cx="73152" cy="1234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96511" y="1618488"/>
            <a:ext cx="301752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000" b="1" i="0">
                <a:solidFill>
                  <a:srgbClr val="5F6B7A"/>
                </a:solidFill>
                <a:latin typeface="Aptos"/>
              </a:rPr>
              <a:t>SIGNIFICANCE 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1" y="1901952"/>
            <a:ext cx="30175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200" b="1" i="0">
                <a:solidFill>
                  <a:srgbClr val="162542"/>
                </a:solidFill>
                <a:latin typeface="Aptos"/>
              </a:rPr>
              <a:t>4.53 × 10⁻³⁰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1" y="2450592"/>
            <a:ext cx="3017520" cy="210312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900" b="0" i="0">
                <a:solidFill>
                  <a:srgbClr val="5F6B7A"/>
                </a:solidFill>
                <a:latin typeface="Aptos"/>
              </a:rPr>
              <a:t>Overall model is statistically significant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63240"/>
            <a:ext cx="365760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700" b="1" i="0">
                <a:solidFill>
                  <a:srgbClr val="2E69B4"/>
                </a:solidFill>
                <a:latin typeface="Aptos"/>
              </a:rPr>
              <a:t>Individual predictor results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347472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Predictor</a:t>
                      </a:r>
                    </a:p>
                  </a:txBody>
                  <a:tcPr>
                    <a:solidFill>
                      <a:srgbClr val="16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Coefficient</a:t>
                      </a:r>
                    </a:p>
                  </a:txBody>
                  <a:tcPr>
                    <a:solidFill>
                      <a:srgbClr val="16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6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At 5% level</a:t>
                      </a:r>
                    </a:p>
                  </a:txBody>
                  <a:tcPr>
                    <a:solidFill>
                      <a:srgbClr val="16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RD_Spend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0.8057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2.63 × 10⁻²²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Administration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−0.0268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0.6018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Not significant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Marketing_Spend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0.0272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0.1047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Not 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68680" y="5394960"/>
            <a:ext cx="10332720" cy="5029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0" i="0">
                <a:solidFill>
                  <a:srgbClr val="28303C"/>
                </a:solidFill>
                <a:latin typeface="Aptos"/>
              </a:rPr>
              <a:t>RD_Spend is significant at α = 0.05. Administration and Marketing_Spend are not individually significant at this threshold.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600" b="1" i="0">
                <a:solidFill>
                  <a:srgbClr val="162542"/>
                </a:solidFill>
                <a:latin typeface="Aptos"/>
              </a:rPr>
              <a:t>05 | Profit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Aptos"/>
              </a:rPr>
              <a:t>Model estimates for two supplied spending combinations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/>
            <a:r>
              <a:rPr sz="1000" b="1" i="0">
                <a:solidFill>
                  <a:srgbClr val="5F6B7A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698480" cy="1051560"/>
          </a:xfrm>
          <a:prstGeom prst="roundRect">
            <a:avLst/>
          </a:prstGeom>
          <a:solidFill>
            <a:srgbClr val="16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10241280" cy="5943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Predicted Profit = 50,122.19299 + 0.80571505(RD_Spend) − 0.026815968(Administration) + 0.027228065(Marketing_Spend)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017520"/>
          <a:ext cx="106984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16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RD_Spend</a:t>
                      </a:r>
                    </a:p>
                  </a:txBody>
                  <a:tcPr>
                    <a:solidFill>
                      <a:srgbClr val="16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Administration</a:t>
                      </a:r>
                    </a:p>
                  </a:txBody>
                  <a:tcPr>
                    <a:solidFill>
                      <a:srgbClr val="16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Marketing_Spend</a:t>
                      </a:r>
                    </a:p>
                  </a:txBody>
                  <a:tcPr>
                    <a:solidFill>
                      <a:srgbClr val="16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Predicted Profit</a:t>
                      </a:r>
                    </a:p>
                  </a:txBody>
                  <a:tcPr>
                    <a:solidFill>
                      <a:srgbClr val="16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21,892.92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81,910.77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164,270.70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70,037.90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23,940.93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96,489.63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137,001.10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70,554.57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600" b="1" i="0">
                <a:solidFill>
                  <a:srgbClr val="162542"/>
                </a:solidFill>
                <a:latin typeface="Aptos"/>
              </a:rPr>
              <a:t>06 | Power BI Visualizations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Aptos"/>
              </a:rPr>
              <a:t>Replace the placeholder with your actual dashboard screenshot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/>
            <a:r>
              <a:rPr sz="1000" b="1" i="0">
                <a:solidFill>
                  <a:srgbClr val="5F6B7A"/>
                </a:solidFill>
                <a:latin typeface="Aptos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063240"/>
            <a:ext cx="228600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400" b="1" i="0">
                <a:solidFill>
                  <a:srgbClr val="162542"/>
                </a:solidFill>
                <a:latin typeface="Aptos"/>
              </a:rPr>
              <a:t>Scatter charts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0" y="3474720"/>
            <a:ext cx="109728" cy="109728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596128" y="3547872"/>
            <a:ext cx="109728" cy="109728"/>
          </a:xfrm>
          <a:prstGeom prst="ellipse">
            <a:avLst/>
          </a:prstGeom>
          <a:solidFill>
            <a:srgbClr val="2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163056" y="3621024"/>
            <a:ext cx="109728" cy="109728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729983" y="3474720"/>
            <a:ext cx="109728" cy="109728"/>
          </a:xfrm>
          <a:prstGeom prst="ellipse">
            <a:avLst/>
          </a:prstGeom>
          <a:solidFill>
            <a:srgbClr val="2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029200" y="4005072"/>
            <a:ext cx="109728" cy="109728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596128" y="4078224"/>
            <a:ext cx="109728" cy="109728"/>
          </a:xfrm>
          <a:prstGeom prst="ellipse">
            <a:avLst/>
          </a:prstGeom>
          <a:solidFill>
            <a:srgbClr val="2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163056" y="3931920"/>
            <a:ext cx="109728" cy="109728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729983" y="4005072"/>
            <a:ext cx="109728" cy="109728"/>
          </a:xfrm>
          <a:prstGeom prst="ellipse">
            <a:avLst/>
          </a:prstGeom>
          <a:solidFill>
            <a:srgbClr val="2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029200" y="4535424"/>
            <a:ext cx="109728" cy="109728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596128" y="4389120"/>
            <a:ext cx="109728" cy="109728"/>
          </a:xfrm>
          <a:prstGeom prst="ellipse">
            <a:avLst/>
          </a:prstGeom>
          <a:solidFill>
            <a:srgbClr val="2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163056" y="4462272"/>
            <a:ext cx="109728" cy="109728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729983" y="4535424"/>
            <a:ext cx="109728" cy="109728"/>
          </a:xfrm>
          <a:prstGeom prst="ellipse">
            <a:avLst/>
          </a:prstGeom>
          <a:solidFill>
            <a:srgbClr val="2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95360" y="1920240"/>
            <a:ext cx="182880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1" i="0">
                <a:solidFill>
                  <a:srgbClr val="2E69B4"/>
                </a:solidFill>
                <a:latin typeface="Aptos"/>
              </a:rPr>
              <a:t>STATE SLICER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2386584"/>
            <a:ext cx="164592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000" b="0" i="0">
                <a:solidFill>
                  <a:srgbClr val="28303C"/>
                </a:solidFill>
                <a:latin typeface="Aptos"/>
              </a:rPr>
              <a:t>Florida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862072"/>
            <a:ext cx="164592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000" b="0" i="0">
                <a:solidFill>
                  <a:srgbClr val="28303C"/>
                </a:solidFill>
                <a:latin typeface="Aptos"/>
              </a:rPr>
              <a:t>New York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337560"/>
            <a:ext cx="164592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000" b="0" i="0">
                <a:solidFill>
                  <a:srgbClr val="28303C"/>
                </a:solidFill>
                <a:latin typeface="Aptos"/>
              </a:rPr>
              <a:t>California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699B9B3-9FCE-AA67-CC37-4A2037303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37" y="1356983"/>
            <a:ext cx="9174509" cy="53693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600" b="1" i="0">
                <a:solidFill>
                  <a:srgbClr val="162542"/>
                </a:solidFill>
                <a:latin typeface="Aptos"/>
              </a:rPr>
              <a:t>07 | Business Insights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Aptos"/>
              </a:rPr>
              <a:t>Practical actions based on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/>
            <a:r>
              <a:rPr sz="1000" b="1" i="0">
                <a:solidFill>
                  <a:srgbClr val="5F6B7A"/>
                </a:solidFill>
                <a:latin typeface="Aptos"/>
              </a:rPr>
              <a:t>08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581912"/>
            <a:ext cx="502920" cy="502920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91639"/>
            <a:ext cx="50292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08760"/>
            <a:ext cx="274320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500" b="1" i="0">
                <a:solidFill>
                  <a:srgbClr val="162542"/>
                </a:solidFill>
                <a:latin typeface="Aptos"/>
              </a:rPr>
              <a:t>Review R&amp;D 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508760"/>
            <a:ext cx="694944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0" i="0">
                <a:solidFill>
                  <a:srgbClr val="28303C"/>
                </a:solidFill>
                <a:latin typeface="Aptos"/>
              </a:rPr>
              <a:t>RD_Spend is a significant predictor in this dataset. Track project-level costs and realized returns before changing budgets.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679191"/>
            <a:ext cx="502920" cy="502920"/>
          </a:xfrm>
          <a:prstGeom prst="ellipse">
            <a:avLst/>
          </a:prstGeom>
          <a:solidFill>
            <a:srgbClr val="2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50292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06039"/>
            <a:ext cx="274320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500" b="1" i="0">
                <a:solidFill>
                  <a:srgbClr val="162542"/>
                </a:solidFill>
                <a:latin typeface="Aptos"/>
              </a:rPr>
              <a:t>Compare state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606039"/>
            <a:ext cx="694944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0" i="0">
                <a:solidFill>
                  <a:srgbClr val="28303C"/>
                </a:solidFill>
                <a:latin typeface="Aptos"/>
              </a:rPr>
              <a:t>Investigate cost structure, demand and operating conditions behind Florida's higher average Profit.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76472"/>
            <a:ext cx="502920" cy="502920"/>
          </a:xfrm>
          <a:prstGeom prst="ellipse">
            <a:avLst/>
          </a:prstGeom>
          <a:solidFill>
            <a:srgbClr val="ED9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50292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03320"/>
            <a:ext cx="274320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500" b="1" i="0">
                <a:solidFill>
                  <a:srgbClr val="162542"/>
                </a:solidFill>
                <a:latin typeface="Aptos"/>
              </a:rPr>
              <a:t>Measure marketing ROI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703320"/>
            <a:ext cx="694944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0" i="0">
                <a:solidFill>
                  <a:srgbClr val="28303C"/>
                </a:solidFill>
                <a:latin typeface="Aptos"/>
              </a:rPr>
              <a:t>Compare campaign spending with attributable revenue and profit; a non-significant p-value does not mean marketing is ineffective.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873752"/>
            <a:ext cx="502920" cy="502920"/>
          </a:xfrm>
          <a:prstGeom prst="ellipse">
            <a:avLst/>
          </a:prstGeom>
          <a:solidFill>
            <a:srgbClr val="268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50292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00600"/>
            <a:ext cx="274320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500" b="1" i="0">
                <a:solidFill>
                  <a:srgbClr val="162542"/>
                </a:solidFill>
                <a:latin typeface="Aptos"/>
              </a:rPr>
              <a:t>Improve cost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800600"/>
            <a:ext cx="694944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200" b="0" i="0">
                <a:solidFill>
                  <a:srgbClr val="28303C"/>
                </a:solidFill>
                <a:latin typeface="Aptos"/>
              </a:rPr>
              <a:t>Review administrative expenses and process efficiency without automatically cutting necessary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77240"/>
            <a:ext cx="365760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1600" b="1" i="0">
                <a:solidFill>
                  <a:srgbClr val="149B91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7955279" cy="12801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Turning spending data into
better business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9784080" cy="2286000"/>
          </a:xfrm>
          <a:prstGeom prst="rect">
            <a:avLst/>
          </a:prstGeom>
          <a:noFill/>
        </p:spPr>
        <p:txBody>
          <a:bodyPr wrap="square" lIns="109728" tIns="54864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4EBF5"/>
                </a:solidFill>
                <a:latin typeface="Aptos"/>
              </a:defRPr>
            </a:pPr>
            <a:r>
              <a:t>The dataset contains 50 records across three states.</a:t>
            </a:r>
          </a:p>
          <a:p>
            <a:pPr>
              <a:spcAft>
                <a:spcPts val="900"/>
              </a:spcAft>
              <a:defRPr sz="1500">
                <a:solidFill>
                  <a:srgbClr val="E4EBF5"/>
                </a:solidFill>
                <a:latin typeface="Aptos"/>
              </a:defRPr>
            </a:pPr>
            <a:r>
              <a:t>Florida has the highest average Profit in the analysis.</a:t>
            </a:r>
          </a:p>
          <a:p>
            <a:pPr>
              <a:spcAft>
                <a:spcPts val="900"/>
              </a:spcAft>
              <a:defRPr sz="1500">
                <a:solidFill>
                  <a:srgbClr val="E4EBF5"/>
                </a:solidFill>
                <a:latin typeface="Aptos"/>
              </a:defRPr>
            </a:pPr>
            <a:r>
              <a:t>The regression model explains about 95.07% of observed Profit variation in this dataset.</a:t>
            </a:r>
          </a:p>
          <a:p>
            <a:pPr>
              <a:spcAft>
                <a:spcPts val="900"/>
              </a:spcAft>
              <a:defRPr sz="1500">
                <a:solidFill>
                  <a:srgbClr val="E4EBF5"/>
                </a:solidFill>
                <a:latin typeface="Aptos"/>
              </a:defRPr>
            </a:pPr>
            <a:r>
              <a:t>Use the dashboard to monitor performance and validate predictions against actual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97880"/>
            <a:ext cx="274320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/>
            <a:r>
              <a:rPr sz="2000" b="1" i="0">
                <a:solidFill>
                  <a:srgbClr val="149B91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126480"/>
            <a:ext cx="3566160" cy="258532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/>
            <a:r>
              <a:rPr sz="1200" b="1" i="0" dirty="0">
                <a:solidFill>
                  <a:srgbClr val="DCE4EF"/>
                </a:solidFill>
                <a:latin typeface="Aptos"/>
              </a:rPr>
              <a:t>Prepared by: </a:t>
            </a:r>
            <a:r>
              <a:rPr lang="en-IN" sz="1200" b="1" dirty="0">
                <a:solidFill>
                  <a:srgbClr val="DCE4EF"/>
                </a:solidFill>
                <a:latin typeface="Aptos"/>
              </a:rPr>
              <a:t>Prince Rajwar</a:t>
            </a:r>
            <a:endParaRPr sz="1200" b="1" i="0" dirty="0">
              <a:solidFill>
                <a:srgbClr val="DCE4E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543</Words>
  <Application>Microsoft Office PowerPoint</Application>
  <PresentationFormat>Widescreen</PresentationFormat>
  <Paragraphs>138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prince raj</cp:lastModifiedBy>
  <cp:revision>3</cp:revision>
  <dcterms:created xsi:type="dcterms:W3CDTF">2013-01-27T09:14:16Z</dcterms:created>
  <dcterms:modified xsi:type="dcterms:W3CDTF">2026-10-23T16:57:34Z</dcterms:modified>
  <cp:category/>
</cp:coreProperties>
</file>